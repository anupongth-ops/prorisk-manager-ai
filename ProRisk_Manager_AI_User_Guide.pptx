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 type="screen16x9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731520"/>
            <a:ext cx="3200400" cy="329184"/>
          </a:xfrm>
          <a:prstGeom prst="roundRect">
            <a:avLst>
              <a:gd name="adj" fmla="val 3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QUICK START GUIDE • 2026 EDITION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728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ProRisk Manager 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107286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คู่มือแนะนำการใช้งานระบบบริหารความเสี่ยงโครงการ EPC อัจฉริยะ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รวดเร็ว • ใช้งานง่าย • แม่นยำตามมาตรฐาน ISO 31000:2018 &amp; COSO ERM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3413455" cy="2971800"/>
          </a:xfrm>
          <a:prstGeom prst="roundRect">
            <a:avLst>
              <a:gd name="adj" fmla="val 2462"/>
            </a:avLst>
          </a:prstGeom>
          <a:solidFill>
            <a:srgbClr val="0F2344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291840"/>
            <a:ext cx="2956255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456432"/>
            <a:ext cx="2956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WEB APPLICATION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858768"/>
            <a:ext cx="2956255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URL: www.gcmeapp.com/epopm</a:t>
            </a:r>
            <a:endParaRPr lang="en-US" sz="9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เข้าใช้งานผ่านเว็บเบราว์เซอร์ได้ทันที ไม่ต้องลงโปรแกรม</a:t>
            </a:r>
            <a:endParaRPr lang="en-US" sz="9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รองรับ Microsoft Single Sign-On (SSO)</a:t>
            </a:r>
            <a:endParaRPr lang="en-US" sz="9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ใช้งานได้สมบูรณ์แบบทั้ง PC, Tablet และ Mobile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932688" y="5650992"/>
            <a:ext cx="3011119" cy="347472"/>
          </a:xfrm>
          <a:prstGeom prst="roundRect">
            <a:avLst>
              <a:gd name="adj" fmla="val 315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5650992"/>
            <a:ext cx="3011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เข้าถึงได้ทุกที่ทุกเวลาบน Cloud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0" y="3154680"/>
            <a:ext cx="3413455" cy="2971800"/>
          </a:xfrm>
          <a:prstGeom prst="roundRect">
            <a:avLst>
              <a:gd name="adj" fmla="val 2462"/>
            </a:avLst>
          </a:prstGeom>
          <a:solidFill>
            <a:srgbClr val="0F2344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3291840"/>
            <a:ext cx="2956255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456432"/>
            <a:ext cx="2956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AI RISK COPILOT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3858768"/>
            <a:ext cx="2956255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ขับเคลื่อนด้วย Gemini 3.7 Flash &amp; Llama 3</a:t>
            </a:r>
            <a:endParaRPr lang="en-US" sz="9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วิเคราะห์เอกสาร TOR และสกัดค่าปรับ LDs อัตโนมัติ</a:t>
            </a:r>
            <a:endParaRPr lang="en-US" sz="9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แนะนำแผน Action Plan และกลยุทธ์ A/T/M/AC ใน 3 วินาที</a:t>
            </a:r>
            <a:endParaRPr lang="en-US" sz="9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คำนวณงบสำรองความเสี่ยง EMV Contingency Buffer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590288" y="5650992"/>
            <a:ext cx="3011119" cy="347472"/>
          </a:xfrm>
          <a:prstGeom prst="roundRect">
            <a:avLst>
              <a:gd name="adj" fmla="val 315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5650992"/>
            <a:ext cx="3011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วิเคราะห์และตอบกลับใน 3 วินาที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46720" y="3154680"/>
            <a:ext cx="3413455" cy="2971800"/>
          </a:xfrm>
          <a:prstGeom prst="roundRect">
            <a:avLst>
              <a:gd name="adj" fmla="val 2462"/>
            </a:avLst>
          </a:prstGeom>
          <a:solidFill>
            <a:srgbClr val="0F2344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3291840"/>
            <a:ext cx="2956255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456432"/>
            <a:ext cx="2956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📑 EXCEL &amp; SQL READY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3858768"/>
            <a:ext cx="2956255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ทำงานรวดเร็วด้วย Excel Grid View (Inline Edit)</a:t>
            </a:r>
            <a:endParaRPr lang="en-US" sz="9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ส่งออกรายงานแบบฟอร์มทางการ EPM-03-014AT1</a:t>
            </a:r>
            <a:endParaRPr lang="en-US" sz="9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1-Click Database Backup ลง PostgreSQL / MySQL</a:t>
            </a:r>
            <a:endParaRPr lang="en-US" sz="9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ระบบ Chunked Batching ปลอดภัย 100%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8247888" y="5650992"/>
            <a:ext cx="3011119" cy="347472"/>
          </a:xfrm>
          <a:prstGeom prst="roundRect">
            <a:avLst>
              <a:gd name="adj" fmla="val 315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888" y="5650992"/>
            <a:ext cx="3011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ส่งออกรายงานทางการ 1-Click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Project Management Division • E-PO-PM System v0.2.20260717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4285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ภาพรวมระบบ: ศูนย์กลางการบริหารความเสี่ยงโครงการครบทั้งวงจร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เชื่อมโยง 4 เสาหลักช่วยให้ทีมบริหารเห็นสถานะความเสี่ยงและตัดสินใจได้อย่างแม่นยำ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43584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190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ProRisk Manager AI • User Quick Start Guide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0" y="6419088"/>
            <a:ext cx="5242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• E-PO-PM System v0.2.20260717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2542032" cy="48463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481328"/>
            <a:ext cx="2212848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627632"/>
            <a:ext cx="1005840" cy="237744"/>
          </a:xfrm>
          <a:prstGeom prst="roundRect">
            <a:avLst>
              <a:gd name="adj" fmla="val 4615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62763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96112" y="19385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Dashboard &amp; Heatmap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2468880"/>
            <a:ext cx="221284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5x5 Heatmap Matrix: แสดงการกระจายตัวของความเสี่ยง Initial vs Residual</a:t>
            </a:r>
            <a:endParaRPr lang="en-US" sz="9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Project Filter: สลับดูเฉพาะโครงการของตนเอง หรือดูภาพรวมทั้งบริษัท</a:t>
            </a:r>
            <a:endParaRPr lang="en-US" sz="9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Status &amp; Category Charts: กราฟแท่งจำแนกตามหมวดหมู่งานและสถานะ Open/Closed</a:t>
            </a:r>
            <a:endParaRPr lang="en-US" sz="9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Risk Severity KPIs: ติดตามจำนวนความเสี่ยงระดับ Very High / High ทันที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77824" y="5650992"/>
            <a:ext cx="2249424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5650992"/>
            <a:ext cx="22494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สรุปสถานะวิกฤตได้ใน 3 วินาที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60090" y="1371600"/>
            <a:ext cx="2542032" cy="48463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24682" y="1481328"/>
            <a:ext cx="221284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24682" y="1627632"/>
            <a:ext cx="1005840" cy="237744"/>
          </a:xfrm>
          <a:prstGeom prst="roundRect">
            <a:avLst>
              <a:gd name="adj" fmla="val 4615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24682" y="162763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24682" y="19385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📑 Excel Register Grid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24682" y="2468880"/>
            <a:ext cx="221284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Inline Grid Editing: พิมพ์แก้ไขข้อมูลในตารางได้อย่างรวดเร็วเสมือน Excel</a:t>
            </a:r>
            <a:endParaRPr lang="en-US" sz="9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Hover Header Guides: ชี้เมาส์ดูคำอธิบายและตัวอย่างตามเกณฑ์ EPM-03-014</a:t>
            </a:r>
            <a:endParaRPr lang="en-US" sz="9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Duplicate &amp; Batch Add: โคลนแถวและเพิ่มความเสี่ยงใหม่อย่างต่อเนื่อง</a:t>
            </a:r>
            <a:endParaRPr lang="en-US" sz="9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Unsaved Changes Shield: ข้อมูลที่กำลังพิมพ์จะไม่ถูกทับจาก Real-time sync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3606394" y="5650992"/>
            <a:ext cx="2249424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06394" y="5650992"/>
            <a:ext cx="22494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ลดเวลาคีย์ข้อมูลลงกว่า 60%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88659" y="1371600"/>
            <a:ext cx="2542032" cy="48463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3251" y="1481328"/>
            <a:ext cx="2212848" cy="457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3251" y="1627632"/>
            <a:ext cx="1005840" cy="237744"/>
          </a:xfrm>
          <a:prstGeom prst="roundRect">
            <a:avLst>
              <a:gd name="adj" fmla="val 46154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3251" y="162763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353251" y="19385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TOR AI Assessment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53251" y="2468880"/>
            <a:ext cx="221284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Scan TOR Documents: สแกนเอกสารประกวดราคาอัตโนมัติ (PDF/Word .docx)</a:t>
            </a:r>
            <a:endParaRPr lang="en-US" sz="9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สกัดข้อจำกัด &amp; ค่าปรับ: ตรวจพบบทลงโทษ Liquidated Damages (LDs)</a:t>
            </a:r>
            <a:endParaRPr lang="en-US" sz="9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จำแนกความเสี่ยง 8 มิติ: Strategic, Financial, Compliance, Schedule ฯลฯ</a:t>
            </a:r>
            <a:endParaRPr lang="en-US" sz="9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คำนวณงบสำรอง EMV Buffer: กำหนด Contingency ก่อนยื่นซองราคา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6334963" y="5650992"/>
            <a:ext cx="2249424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4963" y="5650992"/>
            <a:ext cx="22494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ป้องกันขาดทุนก่อนเซ็นสัญญา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917229" y="1371600"/>
            <a:ext cx="2542032" cy="48463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81821" y="1481328"/>
            <a:ext cx="221284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81821" y="1627632"/>
            <a:ext cx="1005840" cy="237744"/>
          </a:xfrm>
          <a:prstGeom prst="roundRect">
            <a:avLst>
              <a:gd name="adj" fmla="val 4615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81821" y="162763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4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081821" y="19385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✉️ Alerts &amp; Official Export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081821" y="2468880"/>
            <a:ext cx="221284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Overdue Email Alert: สรุปความเสี่ยงเกินกำหนดส่งเมลแจ้งเตือน PM ทันที</a:t>
            </a:r>
            <a:endParaRPr lang="en-US" sz="9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Official Excel Export: ส่งออกลงใน Template ทางการ EPM-03-014AT1</a:t>
            </a:r>
            <a:endParaRPr lang="en-US" sz="9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Client-Side Fallback: ดาวน์โหลดไฟล์ได้ตลอดเวลาแม้ Server ออฟไลน์</a:t>
            </a:r>
            <a:endParaRPr lang="en-US" sz="9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1-Click Database Backup: สำรองฐานข้อมูลลง PostgreSQL / MySQL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9063533" y="5650992"/>
            <a:ext cx="2249424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63533" y="5650992"/>
            <a:ext cx="22494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รายงานทางการ 1-Click พร้อมประชุม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4285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&amp; SECURITY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การเข้าสู่ระบบและระดับสิทธิ์: เข้าถึงง่าย ปลอดภัยระดับองค์กร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รองรับการล็อกอินผ่าน Email บัญชีบริษัท และ Microsoft Single Sign-On (SSO)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43584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190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ProRisk Manager AI • User Quick Start Guide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0" y="6419088"/>
            <a:ext cx="5242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• E-PO-PM System v0.2.20260717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49377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81328"/>
            <a:ext cx="4572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9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ขั้นตอนการเข้าใช้งาน (Login &amp; Permissions)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75104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เปิดเว็บบราวเซอร์ ไปที่ www.gcmeapp.com/epopm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(ใช้งานได้สมบูรณ์ทั้งบน PC, โน้ตบุ๊ก, แท็บเล็ต และสมาร์ตโฟน)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เลือกช่องทางเข้าสู่ระบบที่สะดวก: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Sign in with Microsoft: คลิกครั้งเดียวล็อกอินด้วยบัญชีองค์กรทันที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Email &amp; Password: กรอกอีเมลบริษัทและรหัสผ่าน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รหัสผ่านเริ่มต้นผู้ใช้ใหม่: gcme1234567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(ระบบจะบังคับเปลี่ยนรหัสผ่านในการเข้าใช้งานครั้งแรกเพื่อความปลอดภัย)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สิทธิ์การใช้งาน (Roles):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Admin: จัดการได้ทุกโครงการ เพิ่มผู้ใช้ และสำรองฐานข้อมูล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PM / User: เข้าถึงและแก้ไขเฉพาะโครงการที่ได้รับมอบหมาย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ติดปัญหา Permission Denied? แจ้ง Admin เพื่อขอ Assign สิทธิ์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914400" y="5266944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266944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Pro-Tip: บุ๊กมาร์ก URL ไว้ในเบราว์เซอร์ และใช้ปุ่ม Microsoft SSO เพื่อล็อกอินรวดเร็วโดยไม่ต้องกรอกรหัสผ่านซ้ำ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897880" y="1371600"/>
            <a:ext cx="5559552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16168" y="1389888"/>
            <a:ext cx="5522976" cy="329184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62472" y="14904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490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14904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08176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GCME ProRisk • Authentication Portal</a:t>
            </a:r>
            <a:endParaRPr lang="en-US" sz="850" dirty="0"/>
          </a:p>
        </p:txBody>
      </p:sp>
      <p:pic>
        <p:nvPicPr>
          <p:cNvPr id="21" name="Image 0" descr="D:\Apps\epopm\prorisk-manager-ai\scratch\app_screenshots\screen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773936"/>
            <a:ext cx="5285232" cy="29718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035040" y="1773936"/>
            <a:ext cx="5285232" cy="297180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4855464"/>
            <a:ext cx="528523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10328"/>
            <a:ext cx="5010912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ปุ่ม "Sign in with Microsoft": เชื่อมต่อระบบ Single Sign-On ของบริษัทได้ทันทีในคลิกเดียว</a:t>
            </a:r>
            <a:endParaRPr lang="en-US" sz="8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ปลอดภัยสูงสุด: ทุกเซสชันเข้ารหัส TLS 1.3 และมีระบบบังคับเปลี่ยน Default Password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4285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SETUP (STEP 1)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เริ่มต้นโครงการใหม่ (Step 1): กำหนดข้อมูลพื้นฐาน &amp; บัญชีโครงการ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สร้างรหัสโครงการให้ตรงกับ ERP ระบุ PM ผู้รับผิดชอบ และคลิก "Next" เข้าสู่การถ่วงน้ำหนัก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43584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190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ProRisk Manager AI • User Quick Start Guide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0" y="6419088"/>
            <a:ext cx="5242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• E-PO-PM System v0.2.20260717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49377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81328"/>
            <a:ext cx="4572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9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➕ ขั้นตอนการสร้างโครงการใหม่ (Step 1: Basic Info)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75104"/>
            <a:ext cx="45720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คลิกปุ่ม "+ New Project" บนแถบ Navbar ด้านบนเพื่อเปิดหน้าต่างสร้างโครงการ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Data Inheritance (Optional): เลือกนำเข้าความเสี่ยงจากโครงการเดิม หรือเลือกสร้าง Blank Project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ข้อมูล ERP &amp; ผู้รับผิดชอบ: ระบุ Project No ให้ตรงกับ SAP/ERP, ชื่อโครงการ และชื่อ PM ผู้รับผิดชอบ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Industry Type &amp; ISO 31000: เลือกประเภทโรงงาน (Petrochem/Power) และกำหนด Risk Appetite ของโครงการ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เข้าสู่ขั้นตอนถัดไป: ตรวจสอบความถูกต้อง แล้วคลิกปุ่ม "Next →" สีน้ำเงิน เพื่อเข้าสู่ Step 2 ถ่วงน้ำหนัก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5266944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266944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Pro-Tip: กำหนด Project No ให้ตรงกับรหัส ERP ของ GCME เสมอ และสามารถใช้ "Data Inheritance" เพื่อดึงมาตรการควบคุมจากโครงการเดิมมาใช้งานต่อได้ทันที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897880" y="1371600"/>
            <a:ext cx="5559552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16168" y="1389888"/>
            <a:ext cx="5522976" cy="329184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62472" y="14904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490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14904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08176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 New Project Setup • Step 1: Basic Information</a:t>
            </a:r>
            <a:endParaRPr lang="en-US" sz="850" dirty="0"/>
          </a:p>
        </p:txBody>
      </p:sp>
      <p:pic>
        <p:nvPicPr>
          <p:cNvPr id="21" name="Image 0" descr="D:\Apps\epopm\prorisk-manager-ai\scratch\app_screenshots\screen_project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773936"/>
            <a:ext cx="5285232" cy="29718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035040" y="1773936"/>
            <a:ext cx="5285232" cy="297180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4855464"/>
            <a:ext cx="528523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10328"/>
            <a:ext cx="5010912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ข้อมูลโครงการ: กำหนด Project No, ชื่อโครงการ, PM Contact และเลือก Industry Type สำหรับถ่วงน้ำหนักความเสี่ยง</a:t>
            </a:r>
            <a:endParaRPr lang="en-US" sz="8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ขั้นตอนต่อเนื่อง: กรอกข้อมูลพื้นฐานครบถ้วนแล้วคลิกปุ่ม "Next" สีน้ำเงิน เพื่อเลือก Weighting Factors ใน Step 2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42857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WEIGHTING (STEP 2)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บริบทโครงการ &amp; การถ่วงน้ำหนัก (Step 2): Selection of Weighting Factors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ปรับจูนคะแนนความเสี่ยงให้ตรงสภาพจริงด้วย 7 หมวดหมู่ แล้วกด Initialize Baseline Risks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43584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190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ProRisk Manager AI • User Quick Start Guide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0" y="6419088"/>
            <a:ext cx="5242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• E-PO-PM System v0.2.20260717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49377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81328"/>
            <a:ext cx="4572000" cy="457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9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หลักการเลือก Weighting Factors (7 หมวดหมู่)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75104"/>
            <a:ext cx="45720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Project Nature: เลือกความซับซ้อน เช่น Brownfield (ในโรงงานเดิม +2 Both) หรืองานเร่งด่วน Fast-track (+2)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Technology &amp; Criticality: เลือกระดับความใหม่ เช่น New Tech (+2) หรือเทคโนโลยีมาตรฐาน Proven Tech (-1)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Commercial Pressure: พิจารณาเงื่อนไขสัญญา เช่น Lump Sum, กำหนด COD กระชั้นชิด หรือมีค่าปรับ LD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Location &amp; Supply Chain: สภาพพื้นที่ห่างไกล, อากาศรุนแรง หรือมีเครื่องจักร Long Lead Equipment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Workforce &amp; Commissioning: ขาดแคลนช่างเฉพาะทาง, ไซต์แออัด หรือลำดับการทดสอบระบบซับซ้อน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5266944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266944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6B21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เกณฑ์แนะนำ: ติ๊กเลือกเฉพาะปัจจัยที่เป็น "ความท้าทายจริง" ของโครงการ การเลือก Proven Technology หรือ Modular Construction จะช่วยลดระดับความเสี่ยง (Negative Adjustment) ได้ตามมาตรฐานวิศวกรรม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5897880" y="1371600"/>
            <a:ext cx="5559552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16168" y="1389888"/>
            <a:ext cx="5522976" cy="329184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62472" y="14904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490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14904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08176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Project Context • Step 2: Selection of Weighting Factors</a:t>
            </a:r>
            <a:endParaRPr lang="en-US" sz="850" dirty="0"/>
          </a:p>
        </p:txBody>
      </p:sp>
      <p:pic>
        <p:nvPicPr>
          <p:cNvPr id="21" name="Image 0" descr="D:\Apps\epopm\prorisk-manager-ai\scratch\app_screenshots\screen_weighting_fac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773936"/>
            <a:ext cx="5285232" cy="29718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035040" y="1773936"/>
            <a:ext cx="5285232" cy="297180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4855464"/>
            <a:ext cx="528523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10328"/>
            <a:ext cx="5010912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ปรับตาม Industry Profile: ระบบแสดงค่าน้ำหนัก (+/- Impact &amp; Likelihood) แตกต่างกันตามประเภทโรงงาน</a:t>
            </a:r>
            <a:endParaRPr lang="en-US" sz="8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ปุ่ม "Initialize Baseline Risks": นำค่าน้ำหนักที่เลือกไปคำนวณและสร้างความเสี่ยงตั้งต้น 31 รายการทันที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4285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หน้าต่างแดชบอร์ดและการประเมินความเสี่ยง: มาตรฐาน 5x5 Heatmap Matrix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โครงสร้างการประเมินคะแนนก่อน-หลังมาตรการควบคุม พร้อมสรุปสถิติความเสี่ยงแบบเรียลไทม์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43584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190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ProRisk Manager AI • User Quick Start Guide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0" y="6419088"/>
            <a:ext cx="5242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• E-PO-PM System v0.2.20260717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49377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81328"/>
            <a:ext cx="4572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9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การอ่านค่า Dashboard &amp; เมทริกซ์ 5x5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75104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5x5 Heatmap Matrix (เมทริกซ์ความเสี่ยง 25 ช่อง):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Likelihood: โอกาสเกิด Rarely (1) → Most Likely (5)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Impact: ผลกระทบ Insignificant (1) → Severe (5)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Initial Score: คะแนนก่อนมีมาตรการ (Impact × Likelihood)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Residual Score: คะแนนหลังมีมาตรการ (ต้องลดลงสู่โซนปลอดภัย)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4 ระดับสีเกณฑ์มาตรฐานองค์กร: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เขียว: Low (1-3)  • เหลือง: Medium (4-8)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ส้ม: High (9-14)   • แดง: Very High / Critical (≥ 15)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KPIs สำคัญบน Dashboard: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Review Due: ความเสี่ยงที่ถึงรอบทบทวนตาม ISO 31000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Exceeds Appetite: รายการที่เกินเพดานความเสี่ยงที่ยอมรับได้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Overdue By Level: สถิติงานค้างจำแนกตามความเร่งด่วน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914400" y="5266944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266944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เป้าหมายหลัก: ปฏิบัติตามมาตรการควบคุมเพื่อลดระดับคะแนน Residual ลงสู่โซนสีเขียวหรือสีเหลืองก่อนวันตรวจรับงาน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897880" y="1371600"/>
            <a:ext cx="5559552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16168" y="1389888"/>
            <a:ext cx="5522976" cy="329184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62472" y="14904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490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14904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08176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Executive Risk Dashboard • Real-time Monitoring</a:t>
            </a:r>
            <a:endParaRPr lang="en-US" sz="850" dirty="0"/>
          </a:p>
        </p:txBody>
      </p:sp>
      <p:pic>
        <p:nvPicPr>
          <p:cNvPr id="21" name="Image 0" descr="D:\Apps\epopm\prorisk-manager-ai\scratch\app_screenshots\screen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773936"/>
            <a:ext cx="5285232" cy="29718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035040" y="1773936"/>
            <a:ext cx="5285232" cy="297180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4855464"/>
            <a:ext cx="528523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10328"/>
            <a:ext cx="5010912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จุดเด่น: สรุปภาพรวมความเสี่ยงทั้งโครงการ เห็น Heatmap 5x5 และสถิติงานค้างได้ทันที</a:t>
            </a:r>
            <a:endParaRPr lang="en-US" sz="8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Interactive: คลิกที่ช่องใน Matrix หรือกราฟแท่งเพื่อ Filter รายการความเสี่ยงได้โดยตรง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42857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ตัวช่วย AI อัจฉริยะ: แนะนำกลยุทธ์และแผนจัดการความเสี่ยงใน 3 วินาที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ขับเคลื่อนด้วย Google Gemini 3.7 Flash และ Groq LPU (Llama 3.3 70B)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43584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190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ProRisk Manager AI • User Quick Start Guide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0" y="6419088"/>
            <a:ext cx="5242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• E-PO-PM System v0.2.20260717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49377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81328"/>
            <a:ext cx="4572000" cy="457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9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วิธีใช้งานฟอร์มและปุ่ม "AI Suggest"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75104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ระบุ Description ความเสี่ยงตามมาตรฐาน ISO 31000: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"เนื่องจาก [สาเหตุ] จึงเสี่ยงต่อ [เหตุการณ์] ส่งผลให้ [ผลกระทบ]"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เลือก Possible Effect (Cost, Time, Quality, Health &amp; Safety, Environment)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คลิกปุ่ม "AI Suggest" (✨) สีม่วงด้านขวาของฟอร์ม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AI ประมวลผลจากคลังความเชี่ยวชาญด้าน EPC Project Management ตอบกลับใน 3 วินาที: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คัดเลือกกลยุทธ์ที่เหมาะสม (Avoid, Transfer, Mitigate, Accept)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ร่างแผนการดำเนินการ (Action to Control) ภาษาไทยอย่างเป็นรูปธรรม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ระบุผู้รับผิดชอบ และประเมินคะแนน Residual ที่ควรตั้งเป้าหมาย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กดบันทึกเพื่อจัดเก็บข้อมูลลงระบบ Cloud ทันที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914400" y="5266944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266944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B21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ความเร็วสูง: AI ประมวลผลและตอบกลับภายใน 3 วินาที ช่วยให้วิศวกรและ PM ร่างมาตรการควบคุมที่สอดคล้องกับมาตรฐานทางวิศวกรรมสากลได้อย่างแม่นยำ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897880" y="1371600"/>
            <a:ext cx="5559552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16168" y="1389888"/>
            <a:ext cx="5522976" cy="329184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62472" y="14904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490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14904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08176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Risk Assessment Form • Smart AI Copilot</a:t>
            </a:r>
            <a:endParaRPr lang="en-US" sz="850" dirty="0"/>
          </a:p>
        </p:txBody>
      </p:sp>
      <p:pic>
        <p:nvPicPr>
          <p:cNvPr id="21" name="Image 0" descr="D:\Apps\epopm\prorisk-manager-ai\scratch\app_screenshots\screen_risk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773936"/>
            <a:ext cx="5285232" cy="29718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035040" y="1773936"/>
            <a:ext cx="5285232" cy="297180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4855464"/>
            <a:ext cx="528523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10328"/>
            <a:ext cx="5010912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ปุ่ม "✨ AI Suggest" สีม่วง: คลิกเพื่อให้ AI ร่างกลยุทธ์และ Action Plan อัตโนมัติ</a:t>
            </a:r>
            <a:endParaRPr lang="en-US" sz="8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Interactive Heatmap Picker: คลิกเลือก Likelihood (1-5) และ Impact (1-5) ได้บนเมทริกซ์ทันที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4285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PRODUCTIVITY MODE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โหมดตารางด่วน Excel Grid: ทำงานหลายสิบรายการพร้อมกันอย่างรวดเร็ว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แก้ไขข้อมูลทันทีในตาราง (Inline Editing) พร้อมระบบป้องกันข้อมูลสูญหายจากการซิงค์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43584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190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ProRisk Manager AI • User Quick Start Guide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0" y="6419088"/>
            <a:ext cx="5242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• E-PO-PM System v0.2.20260717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49377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81328"/>
            <a:ext cx="45720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9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การใช้งานโหมดตารางด่วน Excel Grid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75104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สลับเข้าสู่โหมด "Excel Grid" ได้ทันทีจากแถบ Navbar ด้านบน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Inline Grid Editing: คลิกพิมพ์แก้ไข Description, Owner หรือปรับคะแนน Impact/Likelihood ในเซลล์ได้เลยโดยไม่ต้องเปิด Modal ทีละรายการ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4 ขั้นตอนกระบวนการมาตรฐาน EPM-03-014AT1: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1. Identify Risks (สีน้ำเงิน)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2. Assess Risks Pre-mitigation (สีส้ม)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3. Treat Risks / Response (สีเขียว)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4. Control Risks Residual (สีม่วง)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Hover Header Guides: นำเมาส์ชี้หัวคอลัมน์เพื่อดูเกณฑ์ตัดสินผลกระทบ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Batch Save: ไฮไลต์แถวที่แก้ไขและกดปุ่ม "Save All Changes" บันทึกทีเดียว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914400" y="5266944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266944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ลดเวลาคีย์ข้อมูลลงกว่า 60% เสมือนทำงานบน Microsoft Excel จริง พร้อมระบบ Unsaved Changes Shield ป้องกันข้อมูลถูกเขียนทับ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897880" y="1371600"/>
            <a:ext cx="5559552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16168" y="1389888"/>
            <a:ext cx="5522976" cy="329184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62472" y="14904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490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14904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08176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📑 Excel Risk Register Grid • Doc No: EPM-03-014AT1</a:t>
            </a:r>
            <a:endParaRPr lang="en-US" sz="850" dirty="0"/>
          </a:p>
        </p:txBody>
      </p:sp>
      <p:pic>
        <p:nvPicPr>
          <p:cNvPr id="21" name="Image 0" descr="D:\Apps\epopm\prorisk-manager-ai\scratch\app_screenshots\screen_ex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773936"/>
            <a:ext cx="5285232" cy="29718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035040" y="1773936"/>
            <a:ext cx="5285232" cy="297180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4855464"/>
            <a:ext cx="528523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10328"/>
            <a:ext cx="5010912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4 ขั้นตอนมาตรฐาน: 1. Identify → 2. Assess → 3. Treat / Response → 4. Control</a:t>
            </a:r>
            <a:endParaRPr lang="en-US" sz="8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 ปุ่ม "Save All Changes": บันทึกทุกแถวที่แก้ไขลง Cloud พร้อมกันในคลิกเดียว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42857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PRE-BID &amp; PROPOSAL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โมดูลวิเคราะห์ TOR: ป้องกันความเสี่ยงขาดทุนตั้งแต่ขั้นตอนยื่นซองราคา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สกัดเงื่อนไขสัญญา บทปรับ LDs และคำนวณงบสำรอง EMV Contingency Buffer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43584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190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ProRisk Manager AI • User Quick Start Guide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0" y="6419088"/>
            <a:ext cx="5242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 • E-PO-PM System v0.2.20260717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49377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81328"/>
            <a:ext cx="4572000" cy="457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9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📑 วิธีวิเคราะห์ TOR และคำนวณงบสำรอง EMV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75104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อัปโหลดเอกสาร TOR ได้ทั้ง PDF และ Word (.docx) ระบบดึงข้อความอัตโนมัติ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คลิกปุ่ม "AI Scan TOR" เพื่อสกัดข้อจำกัดสัญญาและบทปรับส่งมอบล่าช้า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(Liquidated Damages: LDs เช่น 0.1%/วัน สูงสุด 10% ของมูลค่างาน)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ติดตาม 5 ขั้นตอน Workflow ที่เป็นระบบ: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1. ขอบเขตและบริบท → 2. ระบุความเสี่ยง → 3. เมทริกซ์ 5x5 → 4. มาตรการ &amp; Contingency → 5. ติดตาม &amp; ข้อเสนอแนะ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คำนวณงบสำรองความเสี่ยง EMV (Expected Monetary Value):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EMV = Probability (%) × Estimated Impact (THB) รวมเป็น Contingency Buffer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กดพิมพ์รายงานผู้บริหารแบบ 1-Click Executive PDF พร้อมพื้นที่ลงนาม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914400" y="5266944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266944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6B21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Pre-Bid Shield: ป้องกันโครงการขาดทุน ช่วยให้คณะกรรมการประกวดราคามีตัวเลข Contingency Buffer ที่มีหลักฐานรองรับก่อนยื่นซอง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897880" y="1371600"/>
            <a:ext cx="5559552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16168" y="1389888"/>
            <a:ext cx="5522976" cy="329184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62472" y="14904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490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14904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08176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TOR Risk Assessment Module • Proposal PROP-2026-001</a:t>
            </a:r>
            <a:endParaRPr lang="en-US" sz="850" dirty="0"/>
          </a:p>
        </p:txBody>
      </p:sp>
      <p:pic>
        <p:nvPicPr>
          <p:cNvPr id="21" name="Image 0" descr="D:\Apps\epopm\prorisk-manager-ai\scratch\app_screenshots\screen_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773936"/>
            <a:ext cx="5285232" cy="29718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035040" y="1773936"/>
            <a:ext cx="5285232" cy="297180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4855464"/>
            <a:ext cx="528523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10328"/>
            <a:ext cx="5010912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สรุปงบสำรอง EMV: คำนวณยอด Contingency Buffer (2.6M THB / 5.20%) เทียบกับงบเสนอราคา</a:t>
            </a:r>
            <a:endParaRPr lang="en-US" sz="8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 5 Workflow Tabs: ติดตามสถานะการประเมินความเสี่ยงข้อเสนอราคาอย่างเป็นระบบ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4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&amp; EXPORTS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การติดตามและส่งออกรายงาน: ไม่พลาดทุกกำหนดการ พร้อมรายงานทางการ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ระบบคำนวณรอบทบทวนอัตโนมัติ ส่งเมลแจ้งเตือน PM และส่งออก Excel Template ทางการ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43584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190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ProRisk Manager AI • User Quick Start Guide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0" y="6419088"/>
            <a:ext cx="5242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• E-PO-PM System v0.2.20260717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49377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81328"/>
            <a:ext cx="4572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9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⏰ การติดตามรอบทบทวน &amp; ส่งออกรายงานทางการ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75104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ระบบคำนวณ Next Review Date ให้อัตโนมัติตามมาตรฐาน ISO 31000 Cl.6.6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(รอบ Monthly 30 วัน หรือ Quarterly 90 วัน)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รายการที่เลยกำหนดจะขึ้นแท็กสีแดง "Overdue" ชัดเจนบน Dashboard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Email Alert Notification: สรุปความเสี่ยงที่เกินกำหนดส่งเมลหา PM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(พร้อมปุ่ม 1-Click Dispatch เปิดโปรแกรม Mail หรือคัดลอกข้อความลง Teams)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Official Excel Export: ส่งออกลงใน Template ทางการ EPM-03-014AT1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(สี ฟอนต์ รูปแบบเซลล์ตรงตามมาตรฐาน พร้อม Matrix Color Badge)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1-Click SQL Dump: ดาวน์โหลดไฟล์สำรองฐานข้อมูล PostgreSQL / MySQL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914400" y="5266944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266944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รายงานพร้อมประชุม: กดปุ่ม Export เพียงคลิกเดียว ได้ไฟล์ Excel ทางการพร้อมเข้าที่ประชุมบอร์ดหรือส่งให้ลูกค้าทันที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897880" y="1371600"/>
            <a:ext cx="5559552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16168" y="1389888"/>
            <a:ext cx="5522976" cy="329184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62472" y="149047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49047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14904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08176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Official Export Modal • EPM-03-014AT1 Template</a:t>
            </a:r>
            <a:endParaRPr lang="en-US" sz="850" dirty="0"/>
          </a:p>
        </p:txBody>
      </p:sp>
      <p:pic>
        <p:nvPicPr>
          <p:cNvPr id="21" name="Image 0" descr="D:\Apps\epopm\prorisk-manager-ai\scratch\app_screenshots\screen_ex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773936"/>
            <a:ext cx="5285232" cy="29718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035040" y="1773936"/>
            <a:ext cx="5285232" cy="297180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4855464"/>
            <a:ext cx="5285232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10328"/>
            <a:ext cx="5010912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Export Excel (.xlsx): ดึงข้อมูลลงในแบบฟอร์มมาตรฐานของ GCME พร้อมสี Matrix ถูกต้อง 100%</a:t>
            </a:r>
            <a:endParaRPr lang="en-US" sz="88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เลือกขอบเขต Export ได้ทั้งแบบแยกเฉพาะโครงการ หรือรวบรวมทุกโครงการพร้อมกัน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256032"/>
          </a:xfrm>
          <a:prstGeom prst="roundRect">
            <a:avLst>
              <a:gd name="adj" fmla="val 4285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สรุป 4 กิจวัตรประจำสัปดาห์สำหรับ PM: ดูแลความเสี่ยงให้ทันสมัยใน 5 นาที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แนวทางปฏิบัติที่ดีที่สุด (Best Practices) เพื่อให้โครงการส่งมอบตรงเวลาและอยู่ในงบประมาณ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43584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190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ProRisk Manager AI • User Quick Start Guide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0" y="6419088"/>
            <a:ext cx="5242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 • E-PO-PM System v0.2.20260717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5230368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481328"/>
            <a:ext cx="4773168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609344"/>
            <a:ext cx="4773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Weekly 4-Step Routine สำหรับ PM (5 นาที/สัปดาห์)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1975104"/>
            <a:ext cx="477316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ตรวจสอบ Dashboard: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กรองดูเฉพาะโครงการของตนเอง เช็คภาพรวมความเสี่ยงสีส้มและสีแดง (High / Very High)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เคลียร์รายการ Overdue: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ตรวจสอบมาตรการที่เลยกำหนด อัปเดตผลงาน หรือขยาย Target Date หากมีเหตุผลจำเป็น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อัปเดตด่วนใน Excel Grid: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ใช้โหมดตารางเพื่อบันทึกความคืบหน้า Action to Control และกดบันทึกแบบ Batch ทีเดียว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ปิดความเสี่ยงที่สำเร็จ: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เปลี่ยนสถานะเป็น "Closed" เพื่อสะท้อนคะแนน Residual และรักษาประวัติความก้าวหน้าโครงการ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960120" y="5266944"/>
            <a:ext cx="4773168" cy="713232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5266944"/>
            <a:ext cx="4498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สรุปคำแนะนำ: สละเวลาเพียง 5 นาทีต่อสัปดาห์ ช่วยให้ผู้บริหารเห็นสถานะจริง และป้องกันปัญหาต้นทุนบานปลายก่อนสายเกินแก้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227064" y="1371600"/>
            <a:ext cx="5230368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5664" y="1481328"/>
            <a:ext cx="477316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1609344"/>
            <a:ext cx="4773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ช่องทางสนับสนุนและติดต่อช่วยเหลือ (Help &amp; Support)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55664" y="1975104"/>
            <a:ext cx="477316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เว็บแอปพลิเคชันใช้งานจริง: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www.gcmeapp.com/epopm (เข้าใช้งานได้ทั้ง PC, Tablet และ Smartphone)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คู่มือการใช้งานออนไลน์: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กดปุ่ม "Risk Guide / คู่มือ" บน Navbar เพื่ออ่านคู่มือแบบละเอียดทุกฟังก์ชัน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ติดต่อ Admin เพื่อขอสิทธิ์เข้าถึง: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หากต้องการ Assign โครงการใหม่ หรือเพิ่มบัญชีผู้ใช้งาน ให้แจ้ง Admin ทีมงาน E-PO-PM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สรุปหัวใจสำคัญ: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"การบันทึกความเสี่ยงสม่ำเสมอ คือเกราะป้องกันต้นทุนบานปลาย และทำให้โครงการส่งมอบสำเร็จตามเป้าหมาย"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455664" y="5266944"/>
            <a:ext cx="4773168" cy="713232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2824" y="5266944"/>
            <a:ext cx="44988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ทีมงานฝ่ายบริหารโครงการกลาง (E-PO-PM) พร้อมให้คำปรึกษา แนะนำการตั้งค่า และสนับสนุนการใช้งานทุกวันทำการผ่าน MS Teams และ Email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2026-09-18T06:38:40Z</dcterms:created>
  <dcterms:modified xsi:type="dcterms:W3CDTF">2026-09-18T06:38:40Z</dcterms:modified>
</cp:coreProperties>
</file>